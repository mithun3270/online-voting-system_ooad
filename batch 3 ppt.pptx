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9" r:id="rId5"/>
    <p:sldId id="260" r:id="rId6"/>
    <p:sldId id="264" r:id="rId7"/>
    <p:sldId id="278" r:id="rId8"/>
    <p:sldId id="279" r:id="rId9"/>
    <p:sldId id="280" r:id="rId10"/>
    <p:sldId id="261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65" r:id="rId20"/>
    <p:sldId id="281" r:id="rId21"/>
    <p:sldId id="282" r:id="rId22"/>
    <p:sldId id="263" r:id="rId23"/>
    <p:sldId id="268" r:id="rId24"/>
    <p:sldId id="266" r:id="rId25"/>
    <p:sldId id="283" r:id="rId26"/>
    <p:sldId id="284" r:id="rId27"/>
    <p:sldId id="267" r:id="rId28"/>
    <p:sldId id="262" r:id="rId29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 rtl="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None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1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98989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8989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/>
          <p:nvPr/>
        </p:nvSpPr>
        <p:spPr>
          <a:xfrm>
            <a:off x="762000" y="5080337"/>
            <a:ext cx="68580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 panose="02020603050405020304"/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effectLst>
                  <a:reflection blurRad="12700" stA="28000" endPos="45000" dist="1000" dir="5400000" sy="-100000" algn="bl" rotWithShape="0"/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                                                                  DATE: </a:t>
            </a:r>
            <a:endParaRPr dirty="0"/>
          </a:p>
        </p:txBody>
      </p:sp>
      <p:sp>
        <p:nvSpPr>
          <p:cNvPr id="6" name="Google Shape;84;p13"/>
          <p:cNvSpPr txBox="1"/>
          <p:nvPr/>
        </p:nvSpPr>
        <p:spPr>
          <a:xfrm>
            <a:off x="914400" y="2531573"/>
            <a:ext cx="8229600" cy="16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indent="0" algn="ctr">
              <a:spcBef>
                <a:spcPts val="0"/>
              </a:spcBef>
              <a:buClr>
                <a:srgbClr val="FF0000"/>
              </a:buClr>
              <a:buSzPts val="4000"/>
              <a:buFont typeface="Arial" panose="020B0604020202020204"/>
              <a:buNone/>
            </a:pPr>
            <a:r>
              <a:rPr lang="en-US" b="1" dirty="0">
                <a:solidFill>
                  <a:srgbClr val="FF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CSB1303 OBJECT ORINETED ANALYSIS AND DESIGN (TCPR) </a:t>
            </a:r>
          </a:p>
          <a:p>
            <a:pPr marL="0" indent="0" algn="ctr">
              <a:spcBef>
                <a:spcPts val="0"/>
              </a:spcBef>
              <a:buClr>
                <a:srgbClr val="FF0000"/>
              </a:buClr>
              <a:buSzPts val="4000"/>
              <a:buFont typeface="Arial" panose="020B0604020202020204"/>
              <a:buNone/>
            </a:pPr>
            <a:r>
              <a:rPr lang="en-US" b="1" dirty="0">
                <a:solidFill>
                  <a:srgbClr val="FF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END SEMESTER PROJECT REVIEW</a:t>
            </a:r>
          </a:p>
        </p:txBody>
      </p:sp>
      <p:sp>
        <p:nvSpPr>
          <p:cNvPr id="7" name="Google Shape;85;p13"/>
          <p:cNvSpPr/>
          <p:nvPr/>
        </p:nvSpPr>
        <p:spPr>
          <a:xfrm>
            <a:off x="152400" y="2051009"/>
            <a:ext cx="9144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2300"/>
              <a:buFont typeface="Times New Roman" panose="02020603050405020304"/>
              <a:buNone/>
            </a:pPr>
            <a:r>
              <a:rPr lang="en-US" sz="2300" b="1" i="0" u="none" strike="noStrike" cap="none">
                <a:solidFill>
                  <a:srgbClr val="0F243E"/>
                </a:solidFill>
                <a:effectLst>
                  <a:reflection blurRad="12700" stA="28000" endPos="45000" dist="1000" dir="5400000" sy="-100000" algn="bl" rotWithShape="0"/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DEPARTMENT OF COMPUTER SCIENCE AND ENGINEERING</a:t>
            </a:r>
          </a:p>
        </p:txBody>
      </p:sp>
      <p:sp>
        <p:nvSpPr>
          <p:cNvPr id="8" name="Google Shape;86;p13"/>
          <p:cNvSpPr txBox="1"/>
          <p:nvPr/>
        </p:nvSpPr>
        <p:spPr>
          <a:xfrm>
            <a:off x="0" y="-184150"/>
            <a:ext cx="184200" cy="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9" name="Google Shape;88;p1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371600" y="123825"/>
            <a:ext cx="6400802" cy="185737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89;p13"/>
          <p:cNvSpPr txBox="1"/>
          <p:nvPr/>
        </p:nvSpPr>
        <p:spPr>
          <a:xfrm>
            <a:off x="342900" y="4103775"/>
            <a:ext cx="8458200" cy="1510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2000"/>
              <a:buFont typeface="Times New Roman" panose="02020603050405020304"/>
              <a:buNone/>
            </a:pPr>
            <a:r>
              <a:rPr lang="en-US" sz="1800" i="0" u="none" dirty="0">
                <a:solidFill>
                  <a:srgbClr val="7030A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Presented By</a:t>
            </a:r>
          </a:p>
          <a:p>
            <a:pPr lvl="0" algn="ctr">
              <a:buClr>
                <a:srgbClr val="7030A0"/>
              </a:buClr>
              <a:buSzPts val="2000"/>
            </a:pPr>
            <a:r>
              <a:rPr lang="en-US" sz="1800" dirty="0">
                <a:solidFill>
                  <a:srgbClr val="7030A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Batch No: 3</a:t>
            </a:r>
          </a:p>
          <a:p>
            <a:pPr lvl="0" algn="ctr">
              <a:buClr>
                <a:srgbClr val="7030A0"/>
              </a:buClr>
              <a:buSzPts val="2000"/>
            </a:pPr>
            <a:r>
              <a:rPr lang="en-US" sz="1800" i="0" u="none" dirty="0">
                <a:solidFill>
                  <a:srgbClr val="7030A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PRANESH S (8115U23CS082)</a:t>
            </a:r>
          </a:p>
          <a:p>
            <a:pPr lvl="0" algn="ctr">
              <a:buClr>
                <a:srgbClr val="7030A0"/>
              </a:buClr>
              <a:buSzPts val="2000"/>
            </a:pPr>
            <a:r>
              <a:rPr lang="en-US" sz="1800" dirty="0">
                <a:solidFill>
                  <a:srgbClr val="7030A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MITHUN B (8115U23CS063)</a:t>
            </a:r>
          </a:p>
          <a:p>
            <a:pPr lvl="0" algn="ctr">
              <a:buClr>
                <a:srgbClr val="7030A0"/>
              </a:buClr>
              <a:buSzPts val="2000"/>
            </a:pPr>
            <a:r>
              <a:rPr lang="en-US" sz="1800" i="0" u="none" dirty="0">
                <a:solidFill>
                  <a:srgbClr val="7030A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NAVEEN MU (8115U23CS071)</a:t>
            </a:r>
            <a:endParaRPr sz="1800" i="0" u="none" dirty="0">
              <a:solidFill>
                <a:srgbClr val="7030A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</a:pPr>
            <a:endParaRPr sz="1800" b="0" i="0" u="none" dirty="0">
              <a:solidFill>
                <a:srgbClr val="7030A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dirty="0">
              <a:solidFill>
                <a:srgbClr val="7030A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809E04-F53D-55ED-52A5-C83D45114F5C}"/>
              </a:ext>
            </a:extLst>
          </p:cNvPr>
          <p:cNvSpPr txBox="1"/>
          <p:nvPr/>
        </p:nvSpPr>
        <p:spPr>
          <a:xfrm>
            <a:off x="4834398" y="5578179"/>
            <a:ext cx="19713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16.12.2025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>
            <a:spLocks noGrp="1"/>
          </p:cNvSpPr>
          <p:nvPr>
            <p:ph type="ctrTitle"/>
          </p:nvPr>
        </p:nvSpPr>
        <p:spPr>
          <a:xfrm>
            <a:off x="609600" y="2057400"/>
            <a:ext cx="79248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Times New Roman" panose="02020603050405020304"/>
              <a:buNone/>
            </a:pPr>
            <a:r>
              <a:rPr lang="en-US" sz="3600" b="1" dirty="0">
                <a:solidFill>
                  <a:srgbClr val="0070C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ONLINE VOTING SYSTEM </a:t>
            </a:r>
            <a:endParaRPr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i="0" u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Introduction</a:t>
            </a:r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2531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algn="just">
              <a:lnSpc>
                <a:spcPct val="150000"/>
              </a:lnSpc>
              <a:spcBef>
                <a:spcPts val="0"/>
              </a:spcBef>
              <a:buSzPts val="2800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Online Voting System is a web-based application designed to conduct elections electronically. </a:t>
            </a:r>
          </a:p>
          <a:p>
            <a:pPr marL="342900" algn="just">
              <a:lnSpc>
                <a:spcPct val="150000"/>
              </a:lnSpc>
              <a:spcBef>
                <a:spcPts val="0"/>
              </a:spcBef>
              <a:buSzPts val="2800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enables registered voters to cast their votes securely from any location. </a:t>
            </a:r>
          </a:p>
          <a:p>
            <a:pPr marL="342900" algn="just">
              <a:lnSpc>
                <a:spcPct val="150000"/>
              </a:lnSpc>
              <a:spcBef>
                <a:spcPts val="0"/>
              </a:spcBef>
              <a:buSzPts val="2800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reduces manual effort, voting time, and paperwork involved in traditional elections.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974090" y="249555"/>
            <a:ext cx="700214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Overview of the Project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593090" y="1263015"/>
            <a:ext cx="7764145" cy="3686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provides a secure and user-friendly platform for conducting elections online. </a:t>
            </a:r>
          </a:p>
          <a:p>
            <a:pPr marL="0" indent="0" algn="just">
              <a:buFont typeface="Arial" panose="020B0604020202020204" pitchFamily="34" charset="0"/>
              <a:buNone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voter registration, candidate information, and vote casting efficiently.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prevents duplicate voting and maintains data integrity. </a:t>
            </a:r>
          </a:p>
          <a:p>
            <a:pPr marL="0" indent="0" algn="just">
              <a:buFont typeface="Arial" panose="020B0604020202020204" pitchFamily="34" charset="0"/>
              <a:buNone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Election results are generated automatically and accurately after voting 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i="0" u="none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System Requirements Specification</a:t>
            </a:r>
            <a:endParaRPr dirty="0"/>
          </a:p>
        </p:txBody>
      </p:sp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457200" y="1551940"/>
            <a:ext cx="4114800" cy="322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 lnSpcReduction="10000"/>
          </a:bodyPr>
          <a:lstStyle/>
          <a:p>
            <a:pPr marL="0" lvl="0" indent="0" algn="ctr">
              <a:spcBef>
                <a:spcPts val="560"/>
              </a:spcBef>
              <a:buSzPts val="2800"/>
              <a:buNone/>
            </a:pPr>
            <a:endParaRPr lang="en-US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altLang="en-US" sz="282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lang="en-US" altLang="en-US" sz="28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indent="-457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 pitchFamily="34" charset="0"/>
              <a:buChar char="•"/>
            </a:pPr>
            <a:r>
              <a:rPr lang="en-US" altLang="en-US" sz="28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</a:t>
            </a:r>
          </a:p>
          <a:p>
            <a:pPr marR="0" lvl="0" indent="-457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 pitchFamily="34" charset="0"/>
              <a:buChar char="•"/>
            </a:pPr>
            <a:r>
              <a:rPr lang="en-US" altLang="en-US" sz="28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Voter authentication</a:t>
            </a:r>
          </a:p>
          <a:p>
            <a:pPr marR="0" lvl="0" indent="-457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 pitchFamily="34" charset="0"/>
              <a:buChar char="•"/>
            </a:pPr>
            <a:r>
              <a:rPr lang="en-US" altLang="en-US" sz="28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Candidate display</a:t>
            </a:r>
          </a:p>
          <a:p>
            <a:pPr marR="0" lvl="0" indent="-457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 pitchFamily="34" charset="0"/>
              <a:buChar char="•"/>
            </a:pPr>
            <a:r>
              <a:rPr lang="en-US" altLang="en-US" sz="28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vote storage</a:t>
            </a:r>
          </a:p>
          <a:p>
            <a:pPr marR="0" lvl="0" indent="-4572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 pitchFamily="34" charset="0"/>
              <a:buChar char="•"/>
            </a:pPr>
            <a:r>
              <a:rPr lang="en-US" altLang="en-US" sz="28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generation</a:t>
            </a:r>
          </a:p>
        </p:txBody>
      </p:sp>
      <p:sp>
        <p:nvSpPr>
          <p:cNvPr id="2" name="Text Box 1"/>
          <p:cNvSpPr txBox="1"/>
          <p:nvPr/>
        </p:nvSpPr>
        <p:spPr>
          <a:xfrm>
            <a:off x="4449445" y="1937385"/>
            <a:ext cx="4535170" cy="283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 </a:t>
            </a:r>
          </a:p>
          <a:p>
            <a:endParaRPr lang="en-US" altLang="en-US" sz="283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High security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System reliability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Fast response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interface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High scalability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Problem Analysis</a:t>
            </a:r>
            <a:endParaRPr dirty="0"/>
          </a:p>
        </p:txBody>
      </p:sp>
      <p:sp>
        <p:nvSpPr>
          <p:cNvPr id="4" name="Text Box 3"/>
          <p:cNvSpPr txBox="1"/>
          <p:nvPr/>
        </p:nvSpPr>
        <p:spPr>
          <a:xfrm>
            <a:off x="708660" y="1531620"/>
            <a:ext cx="473837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Draw of the Existing System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979170" y="2567940"/>
            <a:ext cx="54864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708660" y="2152650"/>
            <a:ext cx="7613015" cy="2976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500">
                <a:latin typeface="Times New Roman" panose="02020603050405020304" pitchFamily="18" charset="0"/>
                <a:cs typeface="Times New Roman" panose="02020603050405020304" pitchFamily="18" charset="0"/>
              </a:rPr>
              <a:t>The existing voting system requires manual processes, which consume more time.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500">
                <a:latin typeface="Times New Roman" panose="02020603050405020304" pitchFamily="18" charset="0"/>
                <a:cs typeface="Times New Roman" panose="02020603050405020304" pitchFamily="18" charset="0"/>
              </a:rPr>
              <a:t>Vote counting is slow and may lead to human errors.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500">
                <a:latin typeface="Times New Roman" panose="02020603050405020304" pitchFamily="18" charset="0"/>
                <a:cs typeface="Times New Roman" panose="02020603050405020304" pitchFamily="18" charset="0"/>
              </a:rPr>
              <a:t>Managing voters and ballots involves high operational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/>
          <p:nvPr/>
        </p:nvSpPr>
        <p:spPr>
          <a:xfrm>
            <a:off x="670560" y="598805"/>
            <a:ext cx="536321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What to Achieve in the New System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822960" y="1562100"/>
            <a:ext cx="7466965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The new system aims to provide a secure and reliable online voting platform.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It ensures faster vote counting with accurate and tamper-proof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improves accessibility, transparency, and overall election efficiency.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48640" y="662940"/>
            <a:ext cx="519684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Scope and Objectives of the Project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854075" y="1577340"/>
            <a:ext cx="7619365" cy="4323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secure and user-friendly online voting system for registered voters.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Enable administrators to efficiently manage elections, candidates, and voter information.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Ensure accurate, real-time vote counting and transparent result generation.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Maintain data security, privacy, and integrity throughout the voting process.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79120" y="493395"/>
            <a:ext cx="284924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1104900"/>
            <a:ext cx="217868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Use Cases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731520" y="2049780"/>
            <a:ext cx="4008120" cy="3866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 / Authentication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Cast Vote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Election Results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 Voters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 Candidates</a:t>
            </a:r>
          </a:p>
          <a:p>
            <a:pPr marL="514350" lvl="2" indent="-514350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and Monitor Elections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5410200" y="2049780"/>
            <a:ext cx="2863850" cy="3420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Voter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5318760" y="1104900"/>
            <a:ext cx="202692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Actors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Design</a:t>
            </a:r>
            <a:endParaRPr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457200" y="1179830"/>
            <a:ext cx="338836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335" y="1821815"/>
            <a:ext cx="7193280" cy="40405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703580" y="607060"/>
            <a:ext cx="227647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350" y="1247140"/>
            <a:ext cx="7002780" cy="50584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28448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1095375"/>
            <a:ext cx="7414895" cy="50349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28448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Sequence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" y="1098550"/>
            <a:ext cx="8032750" cy="5171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369379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1290320"/>
            <a:ext cx="7642225" cy="47777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369379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State Chart Diagram</a:t>
            </a:r>
          </a:p>
        </p:txBody>
      </p:sp>
      <p:pic>
        <p:nvPicPr>
          <p:cNvPr id="5" name="Picture 4"/>
          <p:cNvPicPr/>
          <p:nvPr/>
        </p:nvPicPr>
        <p:blipFill>
          <a:blip r:embed="rId2"/>
          <a:srcRect l="3627" t="2047" r="4979" b="1433"/>
          <a:stretch>
            <a:fillRect/>
          </a:stretch>
        </p:blipFill>
        <p:spPr>
          <a:xfrm>
            <a:off x="2383155" y="1108075"/>
            <a:ext cx="4848860" cy="47910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369379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Component Diagram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225" y="971550"/>
            <a:ext cx="6075045" cy="53422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369379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Deployement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95" y="1243965"/>
            <a:ext cx="6382385" cy="54946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88010" y="530225"/>
            <a:ext cx="369379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Package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345" y="1318895"/>
            <a:ext cx="6197600" cy="53162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99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Modules Description</a:t>
            </a:r>
            <a:endParaRPr dirty="0"/>
          </a:p>
        </p:txBody>
      </p:sp>
      <p:sp>
        <p:nvSpPr>
          <p:cNvPr id="3" name="Text Box 2"/>
          <p:cNvSpPr txBox="1"/>
          <p:nvPr/>
        </p:nvSpPr>
        <p:spPr>
          <a:xfrm>
            <a:off x="613410" y="1112520"/>
            <a:ext cx="7679690" cy="27419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1. User Registration &amp; Authentication</a:t>
            </a:r>
          </a:p>
          <a:p>
            <a:pPr algn="just"/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Registers and verifies voters</a:t>
            </a: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Secures login using encryption</a:t>
            </a: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Provides role-based access</a:t>
            </a: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613410" y="3970020"/>
            <a:ext cx="7101205" cy="2784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2. Candidate Management</a:t>
            </a:r>
          </a:p>
          <a:p>
            <a:pPr algn="just"/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Adds and updates candidates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Prevents duplicate entries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Displays candidate details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502920" y="541020"/>
            <a:ext cx="7435850" cy="1961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3. Voting Module</a:t>
            </a:r>
          </a:p>
          <a:p>
            <a:pPr algn="just"/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Allows secure voting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Restricts multiple votes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Stores encrypted votes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502920" y="3543300"/>
            <a:ext cx="5623560" cy="2784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4. Result Calculation</a:t>
            </a:r>
          </a:p>
          <a:p>
            <a:pPr algn="just"/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Counts votes automatically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Generates accurate results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result export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960120" y="1120140"/>
            <a:ext cx="6658610" cy="4338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5. Admin Management</a:t>
            </a:r>
          </a:p>
          <a:p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Controls system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Manages elections and users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Monitors system security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Implementation</a:t>
            </a:r>
            <a:endParaRPr dirty="0"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358877" y="1272876"/>
            <a:ext cx="8229600" cy="470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Frontend: </a:t>
            </a:r>
            <a:r>
              <a:rPr lang="en-US" altLang="en-US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Built using Node.js  with  CSS for responsive design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Backend: </a:t>
            </a:r>
            <a:r>
              <a:rPr lang="en-US" altLang="en-US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Developed using Node.js API routes for handling application logic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 </a:t>
            </a:r>
            <a:r>
              <a:rPr lang="en-US" altLang="en-US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Script is used for safer and cleaner code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altLang="en-US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MongoDB is used to store the event of the System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152400" y="69015"/>
            <a:ext cx="8229600" cy="75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Testing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6E8332-80C0-7441-8593-658BA04981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373252"/>
              </p:ext>
            </p:extLst>
          </p:nvPr>
        </p:nvGraphicFramePr>
        <p:xfrm>
          <a:off x="811161" y="1465825"/>
          <a:ext cx="7187382" cy="213708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7897">
                  <a:extLst>
                    <a:ext uri="{9D8B030D-6E8A-4147-A177-3AD203B41FA5}">
                      <a16:colId xmlns:a16="http://schemas.microsoft.com/office/drawing/2014/main" val="218904375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1944600662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1543936250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221148092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369207054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210521906"/>
                    </a:ext>
                  </a:extLst>
                </a:gridCol>
              </a:tblGrid>
              <a:tr h="76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Test Case ID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Test Scenario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Input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Expected Output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Actual Result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Status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5239807"/>
                  </a:ext>
                </a:extLst>
              </a:tr>
              <a:tr h="11804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UA01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Valid User 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Correct username and password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User successfully logged in and redirected to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Works as 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627432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C78FB3C-42CA-412A-6E11-2AB306232ACA}"/>
              </a:ext>
            </a:extLst>
          </p:cNvPr>
          <p:cNvSpPr txBox="1"/>
          <p:nvPr/>
        </p:nvSpPr>
        <p:spPr>
          <a:xfrm>
            <a:off x="462117" y="823641"/>
            <a:ext cx="432619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Test Case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F3C0D3-9A87-129E-574C-A019BB775480}"/>
              </a:ext>
            </a:extLst>
          </p:cNvPr>
          <p:cNvSpPr txBox="1"/>
          <p:nvPr/>
        </p:nvSpPr>
        <p:spPr>
          <a:xfrm>
            <a:off x="501445" y="3804736"/>
            <a:ext cx="407055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Voting Module Test Case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465670-5769-CA2C-E010-49DF70965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308646"/>
              </p:ext>
            </p:extLst>
          </p:nvPr>
        </p:nvGraphicFramePr>
        <p:xfrm>
          <a:off x="914399" y="4483619"/>
          <a:ext cx="7084146" cy="2103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0691">
                  <a:extLst>
                    <a:ext uri="{9D8B030D-6E8A-4147-A177-3AD203B41FA5}">
                      <a16:colId xmlns:a16="http://schemas.microsoft.com/office/drawing/2014/main" val="4105468486"/>
                    </a:ext>
                  </a:extLst>
                </a:gridCol>
                <a:gridCol w="1180691">
                  <a:extLst>
                    <a:ext uri="{9D8B030D-6E8A-4147-A177-3AD203B41FA5}">
                      <a16:colId xmlns:a16="http://schemas.microsoft.com/office/drawing/2014/main" val="3809159319"/>
                    </a:ext>
                  </a:extLst>
                </a:gridCol>
                <a:gridCol w="1180691">
                  <a:extLst>
                    <a:ext uri="{9D8B030D-6E8A-4147-A177-3AD203B41FA5}">
                      <a16:colId xmlns:a16="http://schemas.microsoft.com/office/drawing/2014/main" val="2830234064"/>
                    </a:ext>
                  </a:extLst>
                </a:gridCol>
                <a:gridCol w="1180691">
                  <a:extLst>
                    <a:ext uri="{9D8B030D-6E8A-4147-A177-3AD203B41FA5}">
                      <a16:colId xmlns:a16="http://schemas.microsoft.com/office/drawing/2014/main" val="3608816218"/>
                    </a:ext>
                  </a:extLst>
                </a:gridCol>
                <a:gridCol w="1180691">
                  <a:extLst>
                    <a:ext uri="{9D8B030D-6E8A-4147-A177-3AD203B41FA5}">
                      <a16:colId xmlns:a16="http://schemas.microsoft.com/office/drawing/2014/main" val="1179287547"/>
                    </a:ext>
                  </a:extLst>
                </a:gridCol>
                <a:gridCol w="1180691">
                  <a:extLst>
                    <a:ext uri="{9D8B030D-6E8A-4147-A177-3AD203B41FA5}">
                      <a16:colId xmlns:a16="http://schemas.microsoft.com/office/drawing/2014/main" val="527526284"/>
                    </a:ext>
                  </a:extLst>
                </a:gridCol>
              </a:tblGrid>
              <a:tr h="452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Test Case ID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Test Scenario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Input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Expected Output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Actual Result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Status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8672878"/>
                  </a:ext>
                </a:extLst>
              </a:tr>
              <a:tr h="1385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VM01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Cast Vote Successfully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Valid voter ID and candidate selection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Vote recorded successfully and confirmation message displayed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Works as expected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Pass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3205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Output Screenshots</a:t>
            </a:r>
            <a:endParaRPr dirty="0"/>
          </a:p>
        </p:txBody>
      </p:sp>
      <p:sp>
        <p:nvSpPr>
          <p:cNvPr id="2" name="Text Box 1"/>
          <p:cNvSpPr txBox="1"/>
          <p:nvPr/>
        </p:nvSpPr>
        <p:spPr>
          <a:xfrm>
            <a:off x="339090" y="1485900"/>
            <a:ext cx="30480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30" y="2075815"/>
            <a:ext cx="7026910" cy="39338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35280" y="510540"/>
            <a:ext cx="28194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User Profile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 t="3692"/>
          <a:stretch>
            <a:fillRect/>
          </a:stretch>
        </p:blipFill>
        <p:spPr>
          <a:xfrm>
            <a:off x="852170" y="1135380"/>
            <a:ext cx="7531100" cy="229362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59765" y="3649980"/>
            <a:ext cx="362648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Cast of Vote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285" y="4125595"/>
            <a:ext cx="7245350" cy="24041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624840" y="525780"/>
            <a:ext cx="3505200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Admin login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20" y="1226820"/>
            <a:ext cx="7421880" cy="251460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24840" y="3966845"/>
            <a:ext cx="4281805" cy="475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500" b="1">
                <a:latin typeface="Times New Roman" panose="02020603050405020304" pitchFamily="18" charset="0"/>
                <a:cs typeface="Times New Roman" panose="02020603050405020304" pitchFamily="18" charset="0"/>
              </a:rPr>
              <a:t>Add or Delete Candidates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4667885"/>
            <a:ext cx="7269480" cy="14573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Times New Roman" panose="02020603050405020304"/>
              <a:buNone/>
            </a:pPr>
            <a:r>
              <a:rPr lang="en-US" sz="4000" b="1" dirty="0">
                <a:latin typeface="Times New Roman" panose="02020603050405020304"/>
                <a:cs typeface="Times New Roman" panose="02020603050405020304"/>
                <a:sym typeface="Times New Roman" panose="02020603050405020304"/>
              </a:rPr>
              <a:t>Conclusion and Future Enhancement</a:t>
            </a:r>
            <a:endParaRPr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457200" y="1471151"/>
            <a:ext cx="4439265" cy="3915697"/>
          </a:xfrm>
        </p:spPr>
        <p:txBody>
          <a:bodyPr/>
          <a:lstStyle/>
          <a:p>
            <a:pPr marL="114300" indent="0" algn="just">
              <a:buNone/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Online Voting System provides a secure, efficient, and user-friendly platform for conducting elections. 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eliminates manual errors and reduces the time required for vote counting and result declaration. 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188360" y="1598971"/>
            <a:ext cx="3498440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can be enhanced by integrating biometric authentication.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support can be added to improve accessibility for users.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664D87-A3AE-8B8F-012E-E62B2AC6E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628</Words>
  <Application>Microsoft Office PowerPoint</Application>
  <PresentationFormat>On-screen Show (4:3)</PresentationFormat>
  <Paragraphs>161</Paragraphs>
  <Slides>28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Times New Roman</vt:lpstr>
      <vt:lpstr>Office Theme</vt:lpstr>
      <vt:lpstr>PowerPoint Presentation</vt:lpstr>
      <vt:lpstr> ONLINE VOTING SYSTEM </vt:lpstr>
      <vt:lpstr>Introduction</vt:lpstr>
      <vt:lpstr>PowerPoint Presentation</vt:lpstr>
      <vt:lpstr>System Requirements Specification</vt:lpstr>
      <vt:lpstr>Problem Analysis</vt:lpstr>
      <vt:lpstr>PowerPoint Presentation</vt:lpstr>
      <vt:lpstr>PowerPoint Presentation</vt:lpstr>
      <vt:lpstr>PowerPoint Presentation</vt:lpstr>
      <vt:lpstr>UML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Modules Description</vt:lpstr>
      <vt:lpstr>PowerPoint Presentation</vt:lpstr>
      <vt:lpstr>PowerPoint Presentation</vt:lpstr>
      <vt:lpstr>Implementation</vt:lpstr>
      <vt:lpstr>Testing</vt:lpstr>
      <vt:lpstr>Output Screenshots</vt:lpstr>
      <vt:lpstr>PowerPoint Presentation</vt:lpstr>
      <vt:lpstr>PowerPoint Presentation</vt:lpstr>
      <vt:lpstr>Conclusion and Future Enhancement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Guruprakash K S</dc:creator>
  <cp:lastModifiedBy>PRANESH S</cp:lastModifiedBy>
  <cp:revision>24</cp:revision>
  <dcterms:created xsi:type="dcterms:W3CDTF">2025-12-14T13:00:15Z</dcterms:created>
  <dcterms:modified xsi:type="dcterms:W3CDTF">2025-12-15T06:28:05Z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ACA894A580854D0B8937CFB0F2595AE2_13</vt:lpwstr>
  </property>
  <property fmtid="{D5CDD505-2E9C-101B-9397-08002B2CF9AE}" pid="3" name="KSOProductBuildVer">
    <vt:lpwstr>1033-12.2.0.23155</vt:lpwstr>
  </property>
</Properties>
</file>