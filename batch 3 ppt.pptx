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69" r:id="rId6"/>
    <p:sldId id="260" r:id="rId7"/>
    <p:sldId id="264" r:id="rId8"/>
    <p:sldId id="278" r:id="rId9"/>
    <p:sldId id="279" r:id="rId10"/>
    <p:sldId id="280" r:id="rId11"/>
    <p:sldId id="261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65" r:id="rId21"/>
    <p:sldId id="281" r:id="rId22"/>
    <p:sldId id="282" r:id="rId23"/>
    <p:sldId id="263" r:id="rId24"/>
    <p:sldId id="268" r:id="rId25"/>
    <p:sldId id="266" r:id="rId26"/>
    <p:sldId id="283" r:id="rId27"/>
    <p:sldId id="284" r:id="rId28"/>
    <p:sldId id="267" r:id="rId29"/>
    <p:sldId id="262" r:id="rId30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5" name="Google Shape;11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5" name="Google Shape;11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5" name="Google Shape;11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5" name="Google Shape;11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5" name="Google Shape;11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5" name="Google Shape;11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1" name="Google Shape;12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7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None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3" name="Google Shape;43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9" name="Google Shape;49;p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0" name="Google Shape;50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61" name="Google Shape;61;p10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2" name="Google Shape;62;p10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63" name="Google Shape;63;p10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4" name="Google Shape;64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0" name="Google Shape;70;p1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sz="14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ctrTitle"/>
          </p:nvPr>
        </p:nvSpPr>
        <p:spPr>
          <a:xfrm>
            <a:off x="609600" y="2057400"/>
            <a:ext cx="79248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Times New Roman" panose="02020603050405020304"/>
              <a:buNone/>
            </a:pPr>
            <a:r>
              <a:rPr lang="en-US" sz="3600" b="1" dirty="0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ONLINE VOTING SYSTEM </a:t>
            </a:r>
            <a:endParaRPr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 panose="02020603050405020304"/>
              <a:buNone/>
            </a:pPr>
            <a:r>
              <a:rPr lang="en-US" sz="4000" b="1" i="0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Introduction</a:t>
            </a:r>
            <a:endParaRPr lang="en-US" sz="4000" b="1" i="0" u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0" name="Google Shape;100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253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algn="just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Online Voting System is a web-based application designed to conduct elections electronically. </a:t>
            </a: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algn="just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enables registered voters to cast their votes securely from any location. </a:t>
            </a: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algn="just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reduces manual effort, voting time, and paperwork involved in traditional elections.</a:t>
            </a: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974090" y="249555"/>
            <a:ext cx="700214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 panose="02020603050405020304"/>
              <a:buNone/>
            </a:pPr>
            <a:r>
              <a:rPr lang="en-US" sz="40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Overview of the Project</a:t>
            </a:r>
            <a:endParaRPr lang="en-US" sz="4000"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593090" y="1263015"/>
            <a:ext cx="7764145" cy="36861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provides a secure and user-friendly platform for conducting elections online. </a:t>
            </a: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It manages voter registration, candidate information, and vote casting efficiently. </a:t>
            </a: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prevents duplicate voting and maintains data integrity. </a:t>
            </a: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Election results are generated automatically and accurately after voting ends.</a:t>
            </a: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 panose="02020603050405020304"/>
              <a:buNone/>
            </a:pPr>
            <a:r>
              <a:rPr lang="en-US" sz="4000" b="1" i="0" u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System Requirements Specification</a:t>
            </a:r>
            <a:endParaRPr dirty="0"/>
          </a:p>
        </p:txBody>
      </p:sp>
      <p:sp>
        <p:nvSpPr>
          <p:cNvPr id="112" name="Google Shape;112;p17"/>
          <p:cNvSpPr txBox="1">
            <a:spLocks noGrp="1"/>
          </p:cNvSpPr>
          <p:nvPr>
            <p:ph type="body" idx="1"/>
          </p:nvPr>
        </p:nvSpPr>
        <p:spPr>
          <a:xfrm>
            <a:off x="457200" y="1551940"/>
            <a:ext cx="4114800" cy="3220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 lnSpcReduction="10000"/>
          </a:bodyPr>
          <a:lstStyle/>
          <a:p>
            <a:pPr marL="0" lvl="0" indent="0" algn="ctr">
              <a:spcBef>
                <a:spcPts val="560"/>
              </a:spcBef>
              <a:buSzPts val="2800"/>
              <a:buNone/>
            </a:pPr>
            <a:endParaRPr lang="en-US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altLang="en-US" sz="282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 </a:t>
            </a:r>
            <a:endParaRPr lang="en-US" altLang="en-US" sz="2825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lang="en-US" altLang="en-US" sz="28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r>
              <a:rPr lang="en-US" altLang="en-US" sz="28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</a:t>
            </a:r>
            <a:endParaRPr lang="en-US" altLang="en-US" sz="28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r>
              <a:rPr lang="en-US" altLang="en-US" sz="28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Voter authentication</a:t>
            </a:r>
            <a:endParaRPr lang="en-US" altLang="en-US" sz="28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r>
              <a:rPr lang="en-US" altLang="en-US" sz="28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 display</a:t>
            </a:r>
            <a:endParaRPr lang="en-US" altLang="en-US" sz="28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r>
              <a:rPr lang="en-US" altLang="en-US" sz="28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vote storage</a:t>
            </a:r>
            <a:endParaRPr lang="en-US" altLang="en-US" sz="28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 pitchFamily="34" charset="0"/>
              <a:buChar char="•"/>
            </a:pPr>
            <a:r>
              <a:rPr lang="en-US" altLang="en-US" sz="28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generation</a:t>
            </a:r>
            <a:endParaRPr lang="en-US" altLang="en-US" sz="28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449445" y="1937385"/>
            <a:ext cx="4535170" cy="2834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500" b="1"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Requirements </a:t>
            </a:r>
            <a:endParaRPr lang="en-US" altLang="en-US" sz="25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83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High security</a:t>
            </a: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System reliability</a:t>
            </a: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Fast response</a:t>
            </a: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</a:t>
            </a: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High scalability</a:t>
            </a: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 panose="02020603050405020304"/>
              <a:buNone/>
            </a:pPr>
            <a:r>
              <a:rPr lang="en-US" sz="4000" b="1" dirty="0"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Problem Analysis</a:t>
            </a:r>
            <a:endParaRPr dirty="0"/>
          </a:p>
        </p:txBody>
      </p:sp>
      <p:sp>
        <p:nvSpPr>
          <p:cNvPr id="4" name="Text Box 3"/>
          <p:cNvSpPr txBox="1"/>
          <p:nvPr/>
        </p:nvSpPr>
        <p:spPr>
          <a:xfrm>
            <a:off x="708660" y="1531620"/>
            <a:ext cx="473837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>
                <a:latin typeface="Times New Roman" panose="02020603050405020304" pitchFamily="18" charset="0"/>
                <a:cs typeface="Times New Roman" panose="02020603050405020304" pitchFamily="18" charset="0"/>
              </a:rPr>
              <a:t>Draw of the Existing System</a:t>
            </a:r>
            <a:endParaRPr lang="en-US" sz="25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979170" y="2567940"/>
            <a:ext cx="54864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708660" y="2152650"/>
            <a:ext cx="7613015" cy="2976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500">
                <a:latin typeface="Times New Roman" panose="02020603050405020304" pitchFamily="18" charset="0"/>
                <a:cs typeface="Times New Roman" panose="02020603050405020304" pitchFamily="18" charset="0"/>
              </a:rPr>
              <a:t>The existing voting system requires manual processes, which consume more time.</a:t>
            </a:r>
            <a:endParaRPr lang="en-US" altLang="zh-CN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500">
                <a:latin typeface="Times New Roman" panose="02020603050405020304" pitchFamily="18" charset="0"/>
                <a:cs typeface="Times New Roman" panose="02020603050405020304" pitchFamily="18" charset="0"/>
              </a:rPr>
              <a:t>Vote counting is slow and may lead to human errors.</a:t>
            </a:r>
            <a:endParaRPr lang="en-US" altLang="zh-CN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500">
                <a:latin typeface="Times New Roman" panose="02020603050405020304" pitchFamily="18" charset="0"/>
                <a:cs typeface="Times New Roman" panose="02020603050405020304" pitchFamily="18" charset="0"/>
              </a:rPr>
              <a:t>Managing voters and ballots involves high operational cost.</a:t>
            </a:r>
            <a:endParaRPr lang="en-US" altLang="zh-CN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670560" y="598805"/>
            <a:ext cx="536321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500" b="1">
                <a:latin typeface="Times New Roman" panose="02020603050405020304" pitchFamily="18" charset="0"/>
                <a:cs typeface="Times New Roman" panose="02020603050405020304" pitchFamily="18" charset="0"/>
              </a:rPr>
              <a:t>What to Achieve in the New System</a:t>
            </a:r>
            <a:endParaRPr lang="en-US" altLang="en-US" sz="25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822960" y="1562100"/>
            <a:ext cx="7466965" cy="3169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The new system aims to provide a secure and reliable online voting platform.</a:t>
            </a: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faster vote counting with accurate and tamper-proof results.</a:t>
            </a: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improves accessibility, transparency, and overall election efficiency.</a:t>
            </a: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548640" y="662940"/>
            <a:ext cx="519684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500" b="1">
                <a:latin typeface="Times New Roman" panose="02020603050405020304" pitchFamily="18" charset="0"/>
                <a:cs typeface="Times New Roman" panose="02020603050405020304" pitchFamily="18" charset="0"/>
              </a:rPr>
              <a:t>Scope and Objectives of the Project</a:t>
            </a:r>
            <a:endParaRPr lang="en-US" altLang="en-US" sz="25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854075" y="1577340"/>
            <a:ext cx="7619365" cy="4323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Develop a secure and user-friendly online voting system for registered voters.</a:t>
            </a: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Enable administrators to efficiently manage elections, candidates, and voter information.</a:t>
            </a: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Ensure accurate, real-time vote counting and transparent result generation.</a:t>
            </a: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Maintain data security, privacy, and integrity throughout the voting process.</a:t>
            </a: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579120" y="493395"/>
            <a:ext cx="284924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Identifications</a:t>
            </a:r>
            <a:endParaRPr lang="en-US" alt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731520" y="1104900"/>
            <a:ext cx="217868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500" b="1">
                <a:latin typeface="Times New Roman" panose="02020603050405020304" pitchFamily="18" charset="0"/>
                <a:cs typeface="Times New Roman" panose="02020603050405020304" pitchFamily="18" charset="0"/>
              </a:rPr>
              <a:t>Use Cases</a:t>
            </a:r>
            <a:endParaRPr lang="en-US" altLang="en-US" sz="25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731520" y="2049780"/>
            <a:ext cx="4008120" cy="38665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514350" lvl="2" indent="-514350">
              <a:buFont typeface="Arial" panose="020B0604020202020204" pitchFamily="34" charset="0"/>
              <a:buChar char="•"/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</a:t>
            </a: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2" indent="-514350">
              <a:buFont typeface="Arial" panose="020B0604020202020204" pitchFamily="34" charset="0"/>
              <a:buChar char="•"/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/ Authentication</a:t>
            </a: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2" indent="-514350">
              <a:buFont typeface="Arial" panose="020B0604020202020204" pitchFamily="34" charset="0"/>
              <a:buChar char="•"/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Cast Vote</a:t>
            </a: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2" indent="-514350">
              <a:buFont typeface="Arial" panose="020B0604020202020204" pitchFamily="34" charset="0"/>
              <a:buChar char="•"/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Election Results</a:t>
            </a: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2" indent="-514350">
              <a:buFont typeface="Arial" panose="020B0604020202020204" pitchFamily="34" charset="0"/>
              <a:buChar char="•"/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Voters</a:t>
            </a: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2" indent="-514350">
              <a:buFont typeface="Arial" panose="020B0604020202020204" pitchFamily="34" charset="0"/>
              <a:buChar char="•"/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Candidates</a:t>
            </a: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2" indent="-514350">
              <a:buFont typeface="Arial" panose="020B0604020202020204" pitchFamily="34" charset="0"/>
              <a:buChar char="•"/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and Monitor Elections</a:t>
            </a: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5410200" y="2049780"/>
            <a:ext cx="2863850" cy="34207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514350" indent="-514350" algn="just">
              <a:buFont typeface="Arial" panose="020B0604020202020204" pitchFamily="34" charset="0"/>
              <a:buChar char="•"/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Voter</a:t>
            </a: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Arial" panose="020B0604020202020204" pitchFamily="34" charset="0"/>
              <a:buChar char="•"/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</a:t>
            </a: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5318760" y="1104900"/>
            <a:ext cx="202692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>
                <a:latin typeface="Times New Roman" panose="02020603050405020304" pitchFamily="18" charset="0"/>
                <a:cs typeface="Times New Roman" panose="02020603050405020304" pitchFamily="18" charset="0"/>
              </a:rPr>
              <a:t>Actors</a:t>
            </a:r>
            <a:endParaRPr lang="en-US" sz="25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 panose="02020603050405020304"/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Design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" name="Google Shape;118;p18"/>
          <p:cNvSpPr txBox="1">
            <a:spLocks noGrp="1"/>
          </p:cNvSpPr>
          <p:nvPr>
            <p:ph type="body" idx="1"/>
          </p:nvPr>
        </p:nvSpPr>
        <p:spPr>
          <a:xfrm>
            <a:off x="457200" y="1179830"/>
            <a:ext cx="338836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</a:t>
            </a: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6335" y="1821815"/>
            <a:ext cx="7193280" cy="40405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703580" y="607060"/>
            <a:ext cx="22764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</a:t>
            </a:r>
            <a:endParaRPr lang="en-US" sz="25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350" y="1247140"/>
            <a:ext cx="7002780" cy="505841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588010" y="530225"/>
            <a:ext cx="284480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>
                <a:latin typeface="Times New Roman" panose="02020603050405020304" pitchFamily="18" charset="0"/>
                <a:cs typeface="Times New Roman" panose="02020603050405020304" pitchFamily="18" charset="0"/>
              </a:rPr>
              <a:t>Activity Diagram</a:t>
            </a:r>
            <a:endParaRPr lang="en-US" sz="25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750" y="1095375"/>
            <a:ext cx="7414895" cy="503491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588010" y="530225"/>
            <a:ext cx="284480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</a:t>
            </a:r>
            <a:endParaRPr lang="en-US" sz="25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010" y="1098550"/>
            <a:ext cx="8032750" cy="51714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588010" y="530225"/>
            <a:ext cx="369379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>
                <a:latin typeface="Times New Roman" panose="02020603050405020304" pitchFamily="18" charset="0"/>
                <a:cs typeface="Times New Roman" panose="02020603050405020304" pitchFamily="18" charset="0"/>
              </a:rPr>
              <a:t>Collaboration Diagram</a:t>
            </a:r>
            <a:endParaRPr lang="en-US" sz="25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350" y="1290320"/>
            <a:ext cx="7642225" cy="47777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588010" y="530225"/>
            <a:ext cx="369379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>
                <a:latin typeface="Times New Roman" panose="02020603050405020304" pitchFamily="18" charset="0"/>
                <a:cs typeface="Times New Roman" panose="02020603050405020304" pitchFamily="18" charset="0"/>
              </a:rPr>
              <a:t>State Chart Diagram</a:t>
            </a:r>
            <a:endParaRPr lang="en-US" sz="25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1"/>
          <a:srcRect l="3627" t="2047" r="4979" b="1433"/>
          <a:stretch>
            <a:fillRect/>
          </a:stretch>
        </p:blipFill>
        <p:spPr>
          <a:xfrm>
            <a:off x="2383155" y="1108075"/>
            <a:ext cx="4848860" cy="47910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588010" y="530225"/>
            <a:ext cx="369379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>
                <a:latin typeface="Times New Roman" panose="02020603050405020304" pitchFamily="18" charset="0"/>
                <a:cs typeface="Times New Roman" panose="02020603050405020304" pitchFamily="18" charset="0"/>
              </a:rPr>
              <a:t>Component Diagram</a:t>
            </a:r>
            <a:endParaRPr lang="en-US" sz="25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0225" y="971550"/>
            <a:ext cx="6075045" cy="534225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588010" y="530225"/>
            <a:ext cx="369379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>
                <a:latin typeface="Times New Roman" panose="02020603050405020304" pitchFamily="18" charset="0"/>
                <a:cs typeface="Times New Roman" panose="02020603050405020304" pitchFamily="18" charset="0"/>
              </a:rPr>
              <a:t>Deployement Diagram</a:t>
            </a:r>
            <a:endParaRPr lang="en-US" sz="25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2295" y="1243965"/>
            <a:ext cx="6382385" cy="549465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588010" y="530225"/>
            <a:ext cx="369379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>
                <a:latin typeface="Times New Roman" panose="02020603050405020304" pitchFamily="18" charset="0"/>
                <a:cs typeface="Times New Roman" panose="02020603050405020304" pitchFamily="18" charset="0"/>
              </a:rPr>
              <a:t>Package Diagram</a:t>
            </a:r>
            <a:endParaRPr lang="en-US" sz="25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6345" y="1318895"/>
            <a:ext cx="6197600" cy="53162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996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 panose="02020603050405020304"/>
              <a:buNone/>
            </a:pPr>
            <a:r>
              <a:rPr lang="en-US" sz="4000" b="1" dirty="0"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Modules Description</a:t>
            </a:r>
            <a:endParaRPr dirty="0"/>
          </a:p>
        </p:txBody>
      </p:sp>
      <p:sp>
        <p:nvSpPr>
          <p:cNvPr id="3" name="Text Box 2"/>
          <p:cNvSpPr txBox="1"/>
          <p:nvPr/>
        </p:nvSpPr>
        <p:spPr>
          <a:xfrm>
            <a:off x="613410" y="1112520"/>
            <a:ext cx="7679690" cy="27419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en-US" altLang="en-US" sz="2500" b="1">
                <a:latin typeface="Times New Roman" panose="02020603050405020304" pitchFamily="18" charset="0"/>
                <a:cs typeface="Times New Roman" panose="02020603050405020304" pitchFamily="18" charset="0"/>
              </a:rPr>
              <a:t>1. User Registration &amp; Authentication</a:t>
            </a:r>
            <a:endParaRPr lang="en-US" altLang="en-US" sz="25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Registers and verifies voters</a:t>
            </a: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Secures login using encryption</a:t>
            </a: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Provides role-based access</a:t>
            </a: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13410" y="3970020"/>
            <a:ext cx="7101205" cy="2784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en-US" sz="2500" b="1">
                <a:latin typeface="Times New Roman" panose="02020603050405020304" pitchFamily="18" charset="0"/>
                <a:cs typeface="Times New Roman" panose="02020603050405020304" pitchFamily="18" charset="0"/>
              </a:rPr>
              <a:t>2. Candidate Management</a:t>
            </a:r>
            <a:endParaRPr lang="en-US" altLang="en-US" sz="25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Adds and updates candidates</a:t>
            </a: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Prevents duplicate entries</a:t>
            </a: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Displays candidate details</a:t>
            </a: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502920" y="541020"/>
            <a:ext cx="7435850" cy="19615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en-US" altLang="en-US" sz="2500" b="1">
                <a:latin typeface="Times New Roman" panose="02020603050405020304" pitchFamily="18" charset="0"/>
                <a:cs typeface="Times New Roman" panose="02020603050405020304" pitchFamily="18" charset="0"/>
              </a:rPr>
              <a:t>3. Voting Module</a:t>
            </a:r>
            <a:endParaRPr lang="en-US" altLang="en-US" sz="25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Allows secure voting</a:t>
            </a: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Restricts multiple votes</a:t>
            </a: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Stores encrypted votes</a:t>
            </a: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502920" y="3543300"/>
            <a:ext cx="5623560" cy="2784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en-US" sz="2500" b="1">
                <a:latin typeface="Times New Roman" panose="02020603050405020304" pitchFamily="18" charset="0"/>
                <a:cs typeface="Times New Roman" panose="02020603050405020304" pitchFamily="18" charset="0"/>
              </a:rPr>
              <a:t>4. Result Calculation</a:t>
            </a:r>
            <a:endParaRPr lang="en-US" altLang="en-US" sz="25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Counts votes automatically</a:t>
            </a: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accurate results</a:t>
            </a: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Supports result export</a:t>
            </a: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960120" y="1120140"/>
            <a:ext cx="6658610" cy="43383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500" b="1">
                <a:latin typeface="Times New Roman" panose="02020603050405020304" pitchFamily="18" charset="0"/>
                <a:cs typeface="Times New Roman" panose="02020603050405020304" pitchFamily="18" charset="0"/>
              </a:rPr>
              <a:t>5. Admin Management</a:t>
            </a:r>
            <a:endParaRPr lang="en-US" altLang="en-US" sz="25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Controls system operations</a:t>
            </a: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Manages elections and users</a:t>
            </a: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Monitors system security</a:t>
            </a: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 panose="02020603050405020304"/>
              <a:buNone/>
            </a:pPr>
            <a:r>
              <a:rPr lang="en-US" sz="4000" b="1" dirty="0"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Implementation</a:t>
            </a:r>
            <a:endParaRPr dirty="0"/>
          </a:p>
        </p:txBody>
      </p:sp>
      <p:sp>
        <p:nvSpPr>
          <p:cNvPr id="118" name="Google Shape;118;p18"/>
          <p:cNvSpPr txBox="1">
            <a:spLocks noGrp="1"/>
          </p:cNvSpPr>
          <p:nvPr>
            <p:ph type="body" idx="1"/>
          </p:nvPr>
        </p:nvSpPr>
        <p:spPr>
          <a:xfrm>
            <a:off x="358877" y="1272876"/>
            <a:ext cx="8229600" cy="470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Frontend: </a:t>
            </a:r>
            <a:r>
              <a:rPr lang="en-US" alt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 using Node.js  with  CSS for responsive design</a:t>
            </a:r>
            <a:endParaRPr lang="en-US" altLang="en-US" sz="2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Backend: </a:t>
            </a:r>
            <a:r>
              <a:rPr lang="en-US" alt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Developed using Node.js API routes for handling application logic</a:t>
            </a:r>
            <a:endParaRPr lang="en-US" altLang="en-US" sz="2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</a:t>
            </a:r>
            <a:r>
              <a:rPr lang="en-US" alt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 Script is used for safer and cleaner code</a:t>
            </a:r>
            <a:endParaRPr lang="en-US" altLang="en-US" sz="2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  <a:r>
              <a:rPr lang="en-US" altLang="en-US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MongoDB is used to store the event of the System</a:t>
            </a:r>
            <a:endParaRPr lang="en-US" altLang="en-US" sz="2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>
            <a:spLocks noGrp="1"/>
          </p:cNvSpPr>
          <p:nvPr>
            <p:ph type="title"/>
          </p:nvPr>
        </p:nvSpPr>
        <p:spPr>
          <a:xfrm>
            <a:off x="152400" y="69015"/>
            <a:ext cx="8229600" cy="754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 panose="02020603050405020304"/>
              <a:buNone/>
            </a:pPr>
            <a:r>
              <a:rPr lang="en-US" sz="4000" b="1" dirty="0"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Testing</a:t>
            </a:r>
            <a:endParaRPr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11161" y="1465825"/>
          <a:ext cx="7187382" cy="213708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7897"/>
                <a:gridCol w="1197897"/>
                <a:gridCol w="1197897"/>
                <a:gridCol w="1197897"/>
                <a:gridCol w="1197897"/>
                <a:gridCol w="1197897"/>
              </a:tblGrid>
              <a:tr h="7654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Test Case ID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Test Scenario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Input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Expected Output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Actual Result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Status</a:t>
                      </a:r>
                      <a:endParaRPr lang="en-US" dirty="0"/>
                    </a:p>
                  </a:txBody>
                  <a:tcPr anchor="ctr"/>
                </a:tc>
              </a:tr>
              <a:tr h="11804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UA01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Valid User Login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Correct username and password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 successfully logged in and redirected to dashboard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Works as expected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62117" y="823641"/>
            <a:ext cx="432619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 Test Case</a:t>
            </a: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1445" y="3804736"/>
            <a:ext cx="407055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Voting Module Test Case</a:t>
            </a: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399" y="4483619"/>
          <a:ext cx="7084146" cy="2103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80691"/>
                <a:gridCol w="1180691"/>
                <a:gridCol w="1180691"/>
                <a:gridCol w="1180691"/>
                <a:gridCol w="1180691"/>
                <a:gridCol w="1180691"/>
              </a:tblGrid>
              <a:tr h="4529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Test Case ID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Test Scenario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Input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Expected Output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Actual Result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Status</a:t>
                      </a:r>
                      <a:endParaRPr lang="en-US"/>
                    </a:p>
                  </a:txBody>
                  <a:tcPr anchor="ctr"/>
                </a:tc>
              </a:tr>
              <a:tr h="13855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VM01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Cast Vote Successfully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Valid voter ID and candidate selection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Vote recorded successfully and confirmation message displayed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Works as expected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Pass</a:t>
                      </a:r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 panose="02020603050405020304"/>
              <a:buNone/>
            </a:pPr>
            <a:r>
              <a:rPr lang="en-US" sz="4000" b="1" dirty="0"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Output Screenshots</a:t>
            </a:r>
            <a:endParaRPr dirty="0"/>
          </a:p>
        </p:txBody>
      </p:sp>
      <p:sp>
        <p:nvSpPr>
          <p:cNvPr id="2" name="Text Box 1"/>
          <p:cNvSpPr txBox="1"/>
          <p:nvPr/>
        </p:nvSpPr>
        <p:spPr>
          <a:xfrm>
            <a:off x="339090" y="1485900"/>
            <a:ext cx="304800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500" b="1">
                <a:latin typeface="Times New Roman" panose="02020603050405020304" pitchFamily="18" charset="0"/>
                <a:cs typeface="Times New Roman" panose="02020603050405020304" pitchFamily="18" charset="0"/>
              </a:rPr>
              <a:t>Login Page</a:t>
            </a:r>
            <a:endParaRPr lang="en-US" altLang="en-US" sz="25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530" y="2075815"/>
            <a:ext cx="7026910" cy="393382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335280" y="510540"/>
            <a:ext cx="281940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500" b="1">
                <a:latin typeface="Times New Roman" panose="02020603050405020304" pitchFamily="18" charset="0"/>
                <a:cs typeface="Times New Roman" panose="02020603050405020304" pitchFamily="18" charset="0"/>
              </a:rPr>
              <a:t>User Profile</a:t>
            </a:r>
            <a:endParaRPr lang="en-US" altLang="en-US" sz="25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rcRect t="3692"/>
          <a:stretch>
            <a:fillRect/>
          </a:stretch>
        </p:blipFill>
        <p:spPr>
          <a:xfrm>
            <a:off x="852170" y="1135380"/>
            <a:ext cx="7531100" cy="229362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659765" y="3649980"/>
            <a:ext cx="362648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500" b="1">
                <a:latin typeface="Times New Roman" panose="02020603050405020304" pitchFamily="18" charset="0"/>
                <a:cs typeface="Times New Roman" panose="02020603050405020304" pitchFamily="18" charset="0"/>
              </a:rPr>
              <a:t>Cast of Vote</a:t>
            </a:r>
            <a:endParaRPr lang="en-US" altLang="en-US" sz="25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285" y="4125595"/>
            <a:ext cx="7245350" cy="240411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624840" y="525780"/>
            <a:ext cx="350520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500" b="1">
                <a:latin typeface="Times New Roman" panose="02020603050405020304" pitchFamily="18" charset="0"/>
                <a:cs typeface="Times New Roman" panose="02020603050405020304" pitchFamily="18" charset="0"/>
              </a:rPr>
              <a:t>Admin login</a:t>
            </a:r>
            <a:endParaRPr lang="en-US" altLang="en-US" sz="25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020" y="1226820"/>
            <a:ext cx="7421880" cy="251460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624840" y="3966845"/>
            <a:ext cx="428180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500" b="1">
                <a:latin typeface="Times New Roman" panose="02020603050405020304" pitchFamily="18" charset="0"/>
                <a:cs typeface="Times New Roman" panose="02020603050405020304" pitchFamily="18" charset="0"/>
              </a:rPr>
              <a:t>Add or Delete Candidates</a:t>
            </a:r>
            <a:endParaRPr lang="en-US" altLang="en-US" sz="25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" y="4667885"/>
            <a:ext cx="7269480" cy="145732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 panose="02020603050405020304"/>
              <a:buNone/>
            </a:pPr>
            <a:r>
              <a:rPr lang="en-US" sz="4000" b="1" dirty="0"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Conclusion and Future Enhancement</a:t>
            </a:r>
            <a:endParaRPr dirty="0"/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457200" y="1471151"/>
            <a:ext cx="4439265" cy="3915697"/>
          </a:xfrm>
        </p:spPr>
        <p:txBody>
          <a:bodyPr/>
          <a:lstStyle/>
          <a:p>
            <a:pPr marL="114300" indent="0" algn="just">
              <a:buNone/>
            </a:pPr>
            <a:r>
              <a:rPr lang="en-US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Online Voting System provides a secure, efficient, and user-friendly platform for conducting elections. </a:t>
            </a: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eliminates manual errors and reduces the time required for vote counting and result declaration. </a:t>
            </a: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188360" y="1598971"/>
            <a:ext cx="3498440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be enhanced by integrating biometric authentication. </a:t>
            </a: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support can be added to improve accessibility for users.</a:t>
            </a: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3830</Words>
  <Application>WPS Presentation</Application>
  <PresentationFormat>On-screen Show (4:3)</PresentationFormat>
  <Paragraphs>227</Paragraphs>
  <Slides>27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7" baseType="lpstr">
      <vt:lpstr>Arial</vt:lpstr>
      <vt:lpstr>SimSun</vt:lpstr>
      <vt:lpstr>Wingdings</vt:lpstr>
      <vt:lpstr>Arial</vt:lpstr>
      <vt:lpstr>Calibri</vt:lpstr>
      <vt:lpstr>Times New Roman</vt:lpstr>
      <vt:lpstr>Times New Roman</vt:lpstr>
      <vt:lpstr>Microsoft YaHei</vt:lpstr>
      <vt:lpstr>Arial Unicode MS</vt:lpstr>
      <vt:lpstr>Office Theme</vt:lpstr>
      <vt:lpstr> ONLINE VOTING SYSTEM </vt:lpstr>
      <vt:lpstr>Introduction</vt:lpstr>
      <vt:lpstr>PowerPoint 演示文稿</vt:lpstr>
      <vt:lpstr>System Requirements Specification</vt:lpstr>
      <vt:lpstr>Problem Analysis</vt:lpstr>
      <vt:lpstr>PowerPoint 演示文稿</vt:lpstr>
      <vt:lpstr>PowerPoint 演示文稿</vt:lpstr>
      <vt:lpstr>PowerPoint 演示文稿</vt:lpstr>
      <vt:lpstr>UML Design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Modules Description</vt:lpstr>
      <vt:lpstr>PowerPoint 演示文稿</vt:lpstr>
      <vt:lpstr>PowerPoint 演示文稿</vt:lpstr>
      <vt:lpstr>Implementation</vt:lpstr>
      <vt:lpstr>Testing</vt:lpstr>
      <vt:lpstr>Output Screenshots</vt:lpstr>
      <vt:lpstr>PowerPoint 演示文稿</vt:lpstr>
      <vt:lpstr>PowerPoint 演示文稿</vt:lpstr>
      <vt:lpstr>Conclusion and Future Enhancement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Guruprakash K S</dc:creator>
  <cp:lastModifiedBy>Mithun_3270</cp:lastModifiedBy>
  <cp:revision>25</cp:revision>
  <dcterms:created xsi:type="dcterms:W3CDTF">2025-12-14T13:00:00Z</dcterms:created>
  <dcterms:modified xsi:type="dcterms:W3CDTF">2025-12-16T15:19:30Z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AE37A787B9D143EE834E79D5DC68592B_13</vt:lpwstr>
  </property>
  <property fmtid="{D5CDD505-2E9C-101B-9397-08002B2CF9AE}" pid="3" name="KSOProductBuildVer">
    <vt:lpwstr>1033-12.2.0.23155</vt:lpwstr>
  </property>
</Properties>
</file>